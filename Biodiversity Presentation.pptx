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78" r:id="rId7"/>
    <p:sldId id="258" r:id="rId8"/>
    <p:sldId id="290" r:id="rId9"/>
    <p:sldId id="286" r:id="rId10"/>
    <p:sldId id="281" r:id="rId11"/>
    <p:sldId id="282" r:id="rId12"/>
    <p:sldId id="287" r:id="rId13"/>
    <p:sldId id="291" r:id="rId14"/>
    <p:sldId id="280" r:id="rId15"/>
    <p:sldId id="284" r:id="rId16"/>
    <p:sldId id="288" r:id="rId17"/>
    <p:sldId id="289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 varScale="1">
        <p:scale>
          <a:sx n="66" d="100"/>
          <a:sy n="66" d="100"/>
        </p:scale>
        <p:origin x="1330" y="27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C41C0-5086-0CD2-AF58-1BFFBC64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E6C3D-CC56-0AEE-CF8F-9B847AF6C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FDBB0-55B7-F59D-F1AA-6814253FE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4E671-696C-B635-705D-5F4E82D54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723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DC15-5109-2D61-488E-28E9FDBCB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F7074-443F-F191-AC73-389375553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34141-D279-47DE-F582-1304850B1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1588C-E53F-75C1-DF8C-9BEC15023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415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D837E-A86B-192B-9DF8-0575FE74C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1F04A-364C-8082-4A11-B7A5ACBF3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C9D6D-C122-5B02-6A25-6171C9B74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5C44B-E6E9-65BE-DA0E-898525F50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563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3F9D5-17EB-BF74-91E5-18216F47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53786-312B-EDEA-F0BC-E09EFC229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BFAE52-1997-AAAC-D42F-4BC830759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DC5AB-7FFB-BFD0-54A9-B70B4BDEA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138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B74A3-60DF-ECB0-C3FB-711F223AA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8401D-9420-B585-7651-6F1BF2F9D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ABC8BF-B22C-0EE0-A5BC-0A70DDC7B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6DB8B-D49F-457A-5EC4-633A26D9D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64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A3661-55F7-2634-8A0E-0CCF09F43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4F9AE-AD5C-1732-0ACE-776DE5EF8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219FF-CBFD-BC06-A82F-1B4DCCD44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70DF9-4324-1797-294F-22FEADDC7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846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biodiversity data from the National Parks Service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the National Parks Service Biodiversity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Data</a:t>
            </a:r>
          </a:p>
          <a:p>
            <a:r>
              <a:rPr lang="en-US" dirty="0"/>
              <a:t>Significant Calculations</a:t>
            </a:r>
          </a:p>
          <a:p>
            <a:r>
              <a:rPr lang="en-US" dirty="0"/>
              <a:t>Recommendations for Conservationists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624152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3C806-20B6-1EB1-8433-B3A85811652E}"/>
              </a:ext>
            </a:extLst>
          </p:cNvPr>
          <p:cNvSpPr txBox="1"/>
          <p:nvPr/>
        </p:nvSpPr>
        <p:spPr>
          <a:xfrm>
            <a:off x="6314785" y="1354238"/>
            <a:ext cx="55326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project has two data sets that came with the package: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One CSV file has information about each species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Another has observations of animals with park locations.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F1881C-00E5-68FC-00F1-B07C9CCEC078}"/>
              </a:ext>
            </a:extLst>
          </p:cNvPr>
          <p:cNvSpPr txBox="1"/>
          <p:nvPr/>
        </p:nvSpPr>
        <p:spPr>
          <a:xfrm>
            <a:off x="689489" y="4041494"/>
            <a:ext cx="55326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Project Goals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Are certain types of species more likely to be endangered?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 is the observation analysis look compared to endangerment?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 are the species spread amongst the parks?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530293"/>
          </a:xfrm>
        </p:spPr>
        <p:txBody>
          <a:bodyPr/>
          <a:lstStyle/>
          <a:p>
            <a:r>
              <a:rPr lang="en-US" dirty="0"/>
              <a:t>Species Table snapshot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58" y="3029621"/>
            <a:ext cx="8356922" cy="145623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1600" dirty="0"/>
              <a:t>Above is the data frame with Species entries. 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No Intervention was a category added to the data frame to replace the NaN values. They were determined to be NMAR (Not Missing At Random).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A35625-333A-0CF3-B16C-7EBD60A9F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32" y="970870"/>
            <a:ext cx="9701928" cy="1605988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7684003-13EA-43E1-3B31-8B220E6F1E61}"/>
              </a:ext>
            </a:extLst>
          </p:cNvPr>
          <p:cNvSpPr txBox="1">
            <a:spLocks/>
          </p:cNvSpPr>
          <p:nvPr/>
        </p:nvSpPr>
        <p:spPr>
          <a:xfrm>
            <a:off x="313482" y="4938619"/>
            <a:ext cx="3099142" cy="2503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600" dirty="0"/>
              <a:t>Conservation status Count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Endangered              16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In Recovery              4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No Intervention       5633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Species of Concern     161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Threatened             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A3C06B-A2E3-EAD2-0AD1-959B60519324}"/>
              </a:ext>
            </a:extLst>
          </p:cNvPr>
          <p:cNvSpPr txBox="1"/>
          <p:nvPr/>
        </p:nvSpPr>
        <p:spPr>
          <a:xfrm>
            <a:off x="3412624" y="4886856"/>
            <a:ext cx="6105644" cy="1000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The table to the left shows 5633 counts of No Intervention.</a:t>
            </a:r>
          </a:p>
          <a:p>
            <a:r>
              <a:rPr lang="en-US" dirty="0"/>
              <a:t>This category makes up an overwhelming majority of the data.</a:t>
            </a: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FA758-D64D-7684-C882-B6A1F79CA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91755-243B-EFCD-CD31-F6D95C012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530293"/>
          </a:xfrm>
        </p:spPr>
        <p:txBody>
          <a:bodyPr/>
          <a:lstStyle/>
          <a:p>
            <a:r>
              <a:rPr lang="en-US" dirty="0"/>
              <a:t>Species Table snapshot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35670-C407-7E6A-4A4B-D1A487F96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3620" y="2207818"/>
            <a:ext cx="5220183" cy="145623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1600" dirty="0"/>
              <a:t>After looking at the graph to the right, there is a disproportionate count of data sets under the vascular plant category and are not in conservation status.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166A9CB-7466-BD48-7C24-1385D077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D32C3B90-52BE-84B7-23E9-0D574A380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744" y="1660526"/>
            <a:ext cx="5478684" cy="487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36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47C56-504F-4DBB-D7D9-06EF886A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4228-C25D-D14B-53D6-01EE7B2E2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464499"/>
          </a:xfrm>
        </p:spPr>
        <p:txBody>
          <a:bodyPr>
            <a:normAutofit fontScale="90000"/>
          </a:bodyPr>
          <a:lstStyle/>
          <a:p>
            <a:r>
              <a:rPr lang="en-US" dirty="0"/>
              <a:t>Significant Calculations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B03B321-7FBD-5C28-62E1-9B0EAAD37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106" y="3429000"/>
            <a:ext cx="3924300" cy="464499"/>
          </a:xfrm>
        </p:spPr>
        <p:txBody>
          <a:bodyPr/>
          <a:lstStyle/>
          <a:p>
            <a:r>
              <a:rPr lang="en-US" dirty="0"/>
              <a:t>Conservation Status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9C7404F8-69E0-6AA5-4708-456D75F0050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92863" y="3893499"/>
            <a:ext cx="3943627" cy="2682799"/>
          </a:xfrm>
        </p:spPr>
        <p:txBody>
          <a:bodyPr>
            <a:normAutofit/>
          </a:bodyPr>
          <a:lstStyle/>
          <a:p>
            <a:r>
              <a:rPr lang="en-US" dirty="0"/>
              <a:t>Reviewing the graph on the right and the cross table in the next slide, Mammals and birds are the least in No Intervention status at 82.2% and 84.8%, respectively.</a:t>
            </a:r>
          </a:p>
          <a:p>
            <a:r>
              <a:rPr lang="en-US" dirty="0"/>
              <a:t>Mammals have the most Endangered status at 3.2%, followed by Fish at 2.4%.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14865D3-FE7E-44A9-0D37-608B0825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392EE714-C118-D0F3-1DB8-D2D5DB069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247" y="1120104"/>
            <a:ext cx="7253684" cy="429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207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464499"/>
          </a:xfrm>
        </p:spPr>
        <p:txBody>
          <a:bodyPr>
            <a:normAutofit fontScale="90000"/>
          </a:bodyPr>
          <a:lstStyle/>
          <a:p>
            <a:r>
              <a:rPr lang="en-US" dirty="0"/>
              <a:t>Significant Calculations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14373" y="3436756"/>
            <a:ext cx="3924300" cy="464499"/>
          </a:xfrm>
        </p:spPr>
        <p:txBody>
          <a:bodyPr/>
          <a:lstStyle/>
          <a:p>
            <a:r>
              <a:rPr lang="en-US" dirty="0"/>
              <a:t>Conservation Status Cross Table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14373" y="4038675"/>
            <a:ext cx="3943627" cy="2682799"/>
          </a:xfrm>
        </p:spPr>
        <p:txBody>
          <a:bodyPr>
            <a:normAutofit/>
          </a:bodyPr>
          <a:lstStyle/>
          <a:p>
            <a:r>
              <a:rPr lang="en-US" dirty="0"/>
              <a:t>Fish, along with Amphibians, are the most Threatened by far at 3.1% and 2.5%, respectively. </a:t>
            </a:r>
          </a:p>
          <a:p>
            <a:r>
              <a:rPr lang="en-US" dirty="0"/>
              <a:t>Plants are doing just fine, especially Vascular plants.</a:t>
            </a:r>
          </a:p>
          <a:p>
            <a:r>
              <a:rPr lang="en-US" dirty="0"/>
              <a:t>They are both 98-99% No Intervention status.</a:t>
            </a:r>
          </a:p>
          <a:p>
            <a:endParaRPr lang="en-US" dirty="0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7275" y="4038675"/>
            <a:ext cx="3943627" cy="2682799"/>
          </a:xfrm>
        </p:spPr>
        <p:txBody>
          <a:bodyPr>
            <a:normAutofit/>
          </a:bodyPr>
          <a:lstStyle/>
          <a:p>
            <a:r>
              <a:rPr lang="en-US" dirty="0"/>
              <a:t>The In Recovery status is the smallest portion of the dataset with only Birds and Mammals listed at 0.6% and 0.5%, respectively. 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44C4CC-B76A-0DBD-C673-99D79A41C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085" y="1025132"/>
            <a:ext cx="9201135" cy="227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0"/>
            <a:ext cx="9953308" cy="555179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+mn-lt"/>
              </a:rPr>
              <a:t>Significant Calculations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E5B6E40-3A7D-ACF7-AA38-25977D32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2973575"/>
            <a:ext cx="2722880" cy="351284"/>
          </a:xfrm>
        </p:spPr>
        <p:txBody>
          <a:bodyPr>
            <a:normAutofit/>
          </a:bodyPr>
          <a:lstStyle/>
          <a:p>
            <a:r>
              <a:rPr lang="en-US" dirty="0"/>
              <a:t>Bats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12160"/>
            <a:ext cx="2722880" cy="2987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After running a word count through the common-names column, we see a table like the one on the right. This helps organize the data into common animal names and their appearances in the dataset.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112969F-EB84-49D5-7100-1FB28870FB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54881" y="3324859"/>
            <a:ext cx="5506720" cy="1559657"/>
          </a:xfrm>
        </p:spPr>
        <p:txBody>
          <a:bodyPr>
            <a:normAutofit/>
          </a:bodyPr>
          <a:lstStyle/>
          <a:p>
            <a:r>
              <a:rPr lang="en-US" dirty="0"/>
              <a:t>Myotis is a type of bat, which means Bats are easily the most protected species showing up 15-27 times in the data set. The next applicable word for an animal is Wolf at a 4 count, which is 3 to 4 times less than Bats. 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D2FA0-0147-5FAF-5586-BE840E79738B}"/>
              </a:ext>
            </a:extLst>
          </p:cNvPr>
          <p:cNvSpPr txBox="1"/>
          <p:nvPr/>
        </p:nvSpPr>
        <p:spPr>
          <a:xfrm>
            <a:off x="9511496" y="1193853"/>
            <a:ext cx="20979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Word  Count</a:t>
            </a:r>
          </a:p>
          <a:p>
            <a:r>
              <a:rPr lang="en-US" dirty="0"/>
              <a:t>0       Myotis     15</a:t>
            </a:r>
          </a:p>
          <a:p>
            <a:r>
              <a:rPr lang="en-US" dirty="0"/>
              <a:t>1          Bat     12</a:t>
            </a:r>
          </a:p>
          <a:p>
            <a:r>
              <a:rPr lang="en-US" dirty="0"/>
              <a:t>2        Brown      7</a:t>
            </a:r>
          </a:p>
          <a:p>
            <a:r>
              <a:rPr lang="en-US" dirty="0"/>
              <a:t>3     Northern      6</a:t>
            </a:r>
          </a:p>
          <a:p>
            <a:r>
              <a:rPr lang="en-US" dirty="0"/>
              <a:t>4     American      6</a:t>
            </a:r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E9ADB-4BB4-2302-9B8A-9F69C7757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E4A9-9FFB-0551-1687-ECFCB3407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530293"/>
          </a:xfrm>
        </p:spPr>
        <p:txBody>
          <a:bodyPr/>
          <a:lstStyle/>
          <a:p>
            <a:r>
              <a:rPr lang="en-US" dirty="0"/>
              <a:t>Observations Table snapshot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91A6C-B387-F0EB-13DA-C797B5B18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13301" y="3688153"/>
            <a:ext cx="7127613" cy="895422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The two data frames are joined and filtered to only Bat observations and we get 208 entries. Above is a preview of the table.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AA332A1-DC24-9D09-C85C-F53774DF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BF7625-990D-A60F-7F95-1DA69A5C8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32" y="970870"/>
            <a:ext cx="9701928" cy="160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66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4573D-85B5-2A4E-4E99-D81E94B4A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5CB2-8B3F-49AC-D0D4-2E9227E83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530293"/>
          </a:xfrm>
        </p:spPr>
        <p:txBody>
          <a:bodyPr/>
          <a:lstStyle/>
          <a:p>
            <a:r>
              <a:rPr lang="en-US" dirty="0"/>
              <a:t>Observations Table Bats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783D0-C8DA-A0DB-0A27-9C4547EC5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632" y="2964514"/>
            <a:ext cx="5706319" cy="2537802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en-US" sz="1600" dirty="0"/>
              <a:t>If we graph the observations across the parks, we see a uniform graph like the one on the right.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'Species of Concern' and 'No Intervention' make up most observations. 'Endangered' and 'Threatened' are present in very small numbers. 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More bats are protected as a 'Species of Concern' than 'No intervention', meaning there are less unprotected Bats than not.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Although, the ‘Endangered' and 'Threatened' make up a small portion of the data.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D7E47A9-5BC6-B640-2644-34A2E51F4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EDB79A9B-ECBB-EDBD-D716-65F7C1738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820" y="1192192"/>
            <a:ext cx="6375548" cy="472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85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5053" y="406401"/>
            <a:ext cx="4885867" cy="3022600"/>
          </a:xfrm>
        </p:spPr>
        <p:txBody>
          <a:bodyPr/>
          <a:lstStyle/>
          <a:p>
            <a:r>
              <a:rPr lang="en-US" dirty="0"/>
              <a:t>Recommendations for Conservationists 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480033"/>
          </a:xfrm>
        </p:spPr>
        <p:txBody>
          <a:bodyPr anchor="b"/>
          <a:lstStyle/>
          <a:p>
            <a:r>
              <a:rPr lang="en-US" dirty="0"/>
              <a:t>recommendation for conservationists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656454"/>
            <a:ext cx="5733773" cy="30327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This project was also able to answer some of the questions first posed in the beginning:</a:t>
            </a:r>
          </a:p>
          <a:p>
            <a:r>
              <a:rPr lang="en-US" b="1" dirty="0"/>
              <a:t>Are certain types of species more likely to be endangered?</a:t>
            </a:r>
          </a:p>
          <a:p>
            <a:r>
              <a:rPr lang="en-US" b="1" dirty="0"/>
              <a:t>How is the observation analysis look compared to endangerment?</a:t>
            </a:r>
          </a:p>
          <a:p>
            <a:r>
              <a:rPr lang="en-US" b="1" dirty="0"/>
              <a:t>How are the species spread amongst the parks?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4E9A764F-6B65-050E-E561-82F77339D16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701742" y="3349660"/>
            <a:ext cx="5105844" cy="3032733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Mammals and Birds had the highest percentage of being protected. Bats were most common.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Observations across the park were uniform suggesting the location does not affect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 observations of 'Threatened" and "Endangered" bats, but more Bats are in protected status than not. This suggests while most Bats are protected, the few in most danger can </a:t>
            </a:r>
            <a:r>
              <a:rPr lang="en-US" dirty="0" err="1"/>
              <a:t>recieve</a:t>
            </a:r>
            <a:r>
              <a:rPr lang="en-US" dirty="0"/>
              <a:t> more focus and attention.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C2AC0-E0D7-34AC-FCF0-596F8EF59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DF066C6-499C-6D35-EC1A-7C6359A6D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480033"/>
          </a:xfrm>
        </p:spPr>
        <p:txBody>
          <a:bodyPr anchor="b"/>
          <a:lstStyle/>
          <a:p>
            <a:r>
              <a:rPr lang="en-US" dirty="0"/>
              <a:t>recommendation for conservationists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2875BAE-6189-37F5-0250-86A47A6E4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3154166"/>
            <a:ext cx="5733773" cy="30327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Other take aways include that across all four parks, bat show a consistent pattern in sightings with no major differences. 'Species of Concern' and 'No Intervention' make up most observations. 'Endangered' and 'Threatened' are present in very small numbers, equally.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6D88C866-93BD-37F7-A881-A488A13906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690168" y="3154166"/>
            <a:ext cx="5105844" cy="3032733"/>
          </a:xfrm>
        </p:spPr>
        <p:txBody>
          <a:bodyPr>
            <a:normAutofit/>
          </a:bodyPr>
          <a:lstStyle/>
          <a:p>
            <a:r>
              <a:rPr lang="en-US" dirty="0"/>
              <a:t>This implies conservation pressures on Bats are systemic rather than specific to one park. More bats are protected as a 'Species of Concern' than 'No intervention', meaning there are less unprotected Bats than not, but the "endangered' and 'Threatened' make up a small portion. This could mean Bats are well protected and those with the most danger can be focused on.</a:t>
            </a:r>
            <a:endParaRPr lang="en-US" b="1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B98144-FF9D-AD44-984C-D06C8641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549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53F88-ED1A-A133-3A26-AF93B2112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BE35F2A-1E3B-959C-B8A5-9C7C9187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480033"/>
          </a:xfrm>
        </p:spPr>
        <p:txBody>
          <a:bodyPr anchor="b"/>
          <a:lstStyle/>
          <a:p>
            <a:r>
              <a:rPr lang="en-US" dirty="0"/>
              <a:t>recommendation for conservationists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093275D-4251-4A19-6D7E-6F3E6CED8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3154166"/>
            <a:ext cx="5733773" cy="30327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Fish, along with Amphibians they are the most Threatened by far at 3.1% and 2.5%, respectively. </a:t>
            </a:r>
            <a:r>
              <a:rPr lang="en-US" b="1" dirty="0"/>
              <a:t>This warrants further investigation into these water-biome animals and their habitats.</a:t>
            </a:r>
            <a:endParaRPr lang="en-US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CBBFFFE0-9EE1-439E-F385-A9CC947F555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690168" y="3154166"/>
            <a:ext cx="5105844" cy="3032733"/>
          </a:xfrm>
        </p:spPr>
        <p:txBody>
          <a:bodyPr>
            <a:normAutofit/>
          </a:bodyPr>
          <a:lstStyle/>
          <a:p>
            <a:r>
              <a:rPr lang="en-US" dirty="0"/>
              <a:t>The In Recovery status is the smallest portion of the dataset with only Birds and Mammals listed at 0.6% and 0.5%, respectively. </a:t>
            </a:r>
            <a:r>
              <a:rPr lang="en-US" b="1" dirty="0"/>
              <a:t>This needs further investigation into the lack of In Recovery species.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F6EEEA-1B76-2032-64D6-5F3F94BAC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556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Jacob Ledger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{33C39033-2AD8-427D-9C35-BFAF5C1A0C94}TF7521aafa-c748-4c40-a498-ba511be234dc5b1b6097_win32-5039330bb2f3</Template>
  <TotalTime>116</TotalTime>
  <Words>890</Words>
  <Application>Microsoft Office PowerPoint</Application>
  <PresentationFormat>Widescreen</PresentationFormat>
  <Paragraphs>97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Tenorite</vt:lpstr>
      <vt:lpstr>Custom</vt:lpstr>
      <vt:lpstr>biodiversity data from the National Parks Service</vt:lpstr>
      <vt:lpstr>the National Parks Service Biodiversity</vt:lpstr>
      <vt:lpstr>Data</vt:lpstr>
      <vt:lpstr>Species Table snapshot</vt:lpstr>
      <vt:lpstr>Species Table snapshot</vt:lpstr>
      <vt:lpstr>Significant Calculations</vt:lpstr>
      <vt:lpstr>Significant Calculations</vt:lpstr>
      <vt:lpstr>Significant Calculations</vt:lpstr>
      <vt:lpstr>Observations Table snapshot</vt:lpstr>
      <vt:lpstr>Observations Table Bats</vt:lpstr>
      <vt:lpstr>Recommendations for Conservationists </vt:lpstr>
      <vt:lpstr>recommendation for conservationists</vt:lpstr>
      <vt:lpstr>recommendation for conservationists</vt:lpstr>
      <vt:lpstr>recommendation for conservationists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Ledger</dc:creator>
  <cp:lastModifiedBy>Jacob Ledger</cp:lastModifiedBy>
  <cp:revision>8</cp:revision>
  <dcterms:created xsi:type="dcterms:W3CDTF">2025-12-03T17:17:26Z</dcterms:created>
  <dcterms:modified xsi:type="dcterms:W3CDTF">2025-12-03T20:21:38Z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